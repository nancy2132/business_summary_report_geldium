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88825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243" y="1803405"/>
            <a:ext cx="9446339" cy="1825096"/>
          </a:xfrm>
        </p:spPr>
        <p:txBody>
          <a:bodyPr anchor="b">
            <a:normAutofit/>
          </a:bodyPr>
          <a:lstStyle>
            <a:lvl1pPr algn="l"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243" y="3632201"/>
            <a:ext cx="9446339" cy="685800"/>
          </a:xfrm>
        </p:spPr>
        <p:txBody>
          <a:bodyPr>
            <a:normAutofit/>
          </a:bodyPr>
          <a:lstStyle>
            <a:lvl1pPr marL="0" indent="0" algn="l">
              <a:buNone/>
              <a:defRPr sz="19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7501" y="4314328"/>
            <a:ext cx="2910082" cy="374642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243" y="4323846"/>
            <a:ext cx="639913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5096" y="1430867"/>
            <a:ext cx="2742486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76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260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88825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2" y="753534"/>
            <a:ext cx="10817581" cy="2801935"/>
          </a:xfrm>
        </p:spPr>
        <p:txBody>
          <a:bodyPr anchor="b">
            <a:normAutofit/>
          </a:bodyPr>
          <a:lstStyle>
            <a:lvl1pPr algn="r">
              <a:defRPr sz="3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200" y="3641726"/>
            <a:ext cx="10487468" cy="955675"/>
          </a:xfrm>
        </p:spPr>
        <p:txBody>
          <a:bodyPr>
            <a:normAutofit/>
          </a:bodyPr>
          <a:lstStyle>
            <a:lvl1pPr marL="0" indent="0" algn="r">
              <a:buNone/>
              <a:defRPr sz="21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2417" y="381001"/>
            <a:ext cx="2910082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622" y="381002"/>
            <a:ext cx="6989671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59623" y="381001"/>
            <a:ext cx="6435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791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621" y="2194560"/>
            <a:ext cx="5332611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3" y="2194560"/>
            <a:ext cx="5332611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388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4846" y="762000"/>
            <a:ext cx="8608358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171" y="2183802"/>
            <a:ext cx="5078668" cy="823912"/>
          </a:xfrm>
        </p:spPr>
        <p:txBody>
          <a:bodyPr anchor="b">
            <a:normAutofit/>
          </a:bodyPr>
          <a:lstStyle>
            <a:lvl1pPr marL="0" indent="0">
              <a:buNone/>
              <a:defRPr sz="27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622" y="3132667"/>
            <a:ext cx="5310392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9133" y="2183802"/>
            <a:ext cx="5104070" cy="823912"/>
          </a:xfrm>
        </p:spPr>
        <p:txBody>
          <a:bodyPr anchor="b">
            <a:normAutofit/>
          </a:bodyPr>
          <a:lstStyle>
            <a:lvl1pPr marL="0" indent="0">
              <a:buNone/>
              <a:defRPr sz="27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3132667"/>
            <a:ext cx="5332611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57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1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201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2" y="1524000"/>
            <a:ext cx="4113728" cy="1600200"/>
          </a:xfrm>
        </p:spPr>
        <p:txBody>
          <a:bodyPr anchor="b"/>
          <a:lstStyle>
            <a:lvl1pPr algn="l"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4281" y="746760"/>
            <a:ext cx="6508923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622" y="3124200"/>
            <a:ext cx="4113728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86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1" y="1524000"/>
            <a:ext cx="6871450" cy="1600200"/>
          </a:xfrm>
        </p:spPr>
        <p:txBody>
          <a:bodyPr anchor="b"/>
          <a:lstStyle>
            <a:lvl1pPr algn="l"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59191" y="751242"/>
            <a:ext cx="3644013" cy="5467443"/>
          </a:xfrm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621" y="3124200"/>
            <a:ext cx="687145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761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598" y="4697361"/>
            <a:ext cx="10819216" cy="819355"/>
          </a:xfrm>
        </p:spPr>
        <p:txBody>
          <a:bodyPr anchor="b"/>
          <a:lstStyle>
            <a:lvl1pPr algn="l"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549" y="941440"/>
            <a:ext cx="10819022" cy="3478161"/>
          </a:xfrm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622" y="5516716"/>
            <a:ext cx="10817582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99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88825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2" y="753533"/>
            <a:ext cx="10817582" cy="2802467"/>
          </a:xfrm>
        </p:spPr>
        <p:txBody>
          <a:bodyPr anchor="ctr"/>
          <a:lstStyle>
            <a:lvl1pPr algn="l"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200" y="3649134"/>
            <a:ext cx="10127878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2417" y="381001"/>
            <a:ext cx="2910082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622" y="379942"/>
            <a:ext cx="698967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59623" y="381001"/>
            <a:ext cx="6435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667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88825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201" y="753534"/>
            <a:ext cx="10148889" cy="2604495"/>
          </a:xfrm>
        </p:spPr>
        <p:txBody>
          <a:bodyPr anchor="ctr"/>
          <a:lstStyle>
            <a:lvl1pPr algn="l"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525" y="3365557"/>
            <a:ext cx="9590238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201" y="3959863"/>
            <a:ext cx="10148889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2417" y="381001"/>
            <a:ext cx="2910082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622" y="379942"/>
            <a:ext cx="698967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59623" y="381001"/>
            <a:ext cx="6435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126" y="93345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1370" y="270129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56971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88825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228" y="1124702"/>
            <a:ext cx="10143544" cy="2511835"/>
          </a:xfrm>
        </p:spPr>
        <p:txBody>
          <a:bodyPr anchor="b"/>
          <a:lstStyle>
            <a:lvl1pPr algn="l"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200" y="3648316"/>
            <a:ext cx="10142012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2417" y="378884"/>
            <a:ext cx="2910082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622" y="378884"/>
            <a:ext cx="698967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59623" y="381001"/>
            <a:ext cx="6435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777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4846" y="762000"/>
            <a:ext cx="8608357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621" y="2202080"/>
            <a:ext cx="3455532" cy="617320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620" y="2904565"/>
            <a:ext cx="34555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7662" y="2201333"/>
            <a:ext cx="3455532" cy="626534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5721" y="2904067"/>
            <a:ext cx="34555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03" y="2192866"/>
            <a:ext cx="3455532" cy="626534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49704" y="2904565"/>
            <a:ext cx="34555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274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4846" y="762000"/>
            <a:ext cx="8608357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439" y="4191001"/>
            <a:ext cx="3450683" cy="682765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439" y="2362200"/>
            <a:ext cx="345068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439" y="4873765"/>
            <a:ext cx="3450683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3124" y="4191001"/>
            <a:ext cx="3448037" cy="682765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3124" y="2362200"/>
            <a:ext cx="344803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3125" y="4873764"/>
            <a:ext cx="3448037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7635" y="4191001"/>
            <a:ext cx="3455569" cy="682765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7759" y="2362200"/>
            <a:ext cx="344698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7635" y="4873762"/>
            <a:ext cx="3451546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3542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622" y="2194560"/>
            <a:ext cx="10817582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53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88825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6339" y="745067"/>
            <a:ext cx="2056864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200" y="745068"/>
            <a:ext cx="8202064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2417" y="379942"/>
            <a:ext cx="2910082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622" y="381001"/>
            <a:ext cx="698967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59623" y="381001"/>
            <a:ext cx="6435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1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4846" y="764373"/>
            <a:ext cx="8608358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2" y="2194561"/>
            <a:ext cx="10817582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3122" y="6356351"/>
            <a:ext cx="2910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621" y="6355846"/>
            <a:ext cx="7770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0718" y="38100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7032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126" rtl="0" eaLnBrk="1" latinLnBrk="0" hangingPunct="1">
        <a:lnSpc>
          <a:spcPct val="90000"/>
        </a:lnSpc>
        <a:spcBef>
          <a:spcPct val="0"/>
        </a:spcBef>
        <a:buNone/>
        <a:defRPr sz="3999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1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0163" y="1947256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7F"/>
                </a:solidFill>
              </a:defRPr>
            </a:pPr>
            <a:r>
              <a:rPr dirty="0"/>
              <a:t>AI-Powered Collections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240" y="3335481"/>
            <a:ext cx="89636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>
                <a:solidFill>
                  <a:srgbClr val="282828"/>
                </a:solidFill>
              </a:defRPr>
            </a:pPr>
            <a:r>
              <a:rPr lang="en-US" dirty="0"/>
              <a:t>Leveraging Agentic AI for Scalable, Fair, and Effective Debt Management at </a:t>
            </a:r>
            <a:r>
              <a:rPr lang="en-US" dirty="0" err="1"/>
              <a:t>Geldium</a:t>
            </a:r>
            <a:endParaRPr lang="en-US" dirty="0"/>
          </a:p>
          <a:p>
            <a:pPr algn="ctr">
              <a:defRPr sz="3000">
                <a:solidFill>
                  <a:srgbClr val="282828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0" y="804255"/>
            <a:ext cx="58198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7F"/>
                </a:solidFill>
              </a:defRPr>
            </a:pPr>
            <a:r>
              <a:rPr dirty="0"/>
              <a:t>How the System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87583" y="1924396"/>
            <a:ext cx="8308571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• Inputs: Customer demographics, income, credit score, credit utilization, missed payments, repayment history.</a:t>
            </a:r>
            <a:br>
              <a:rPr dirty="0"/>
            </a:br>
            <a:br>
              <a:rPr dirty="0"/>
            </a:br>
            <a:r>
              <a:rPr dirty="0"/>
              <a:t>• Decision Logic: Logistic Regression risk score + business rules classify customers into low, medium, and high risk.</a:t>
            </a:r>
            <a:br>
              <a:rPr dirty="0"/>
            </a:br>
            <a:br>
              <a:rPr dirty="0"/>
            </a:br>
            <a:r>
              <a:rPr dirty="0"/>
              <a:t>• Actions: Automated reminders, personalized payment plans, hardship support, or manual review.</a:t>
            </a:r>
            <a:br>
              <a:rPr dirty="0"/>
            </a:br>
            <a:br>
              <a:rPr dirty="0"/>
            </a:br>
            <a:r>
              <a:rPr dirty="0"/>
              <a:t>• Learning Loop: Track repayment outcomes and continuously improve the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05461" y="1269402"/>
            <a:ext cx="53355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7F"/>
                </a:solidFill>
              </a:defRPr>
            </a:pPr>
            <a:r>
              <a:rPr dirty="0"/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07456" y="2308989"/>
            <a:ext cx="589519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Customer Data</a:t>
            </a:r>
            <a:br>
              <a:rPr dirty="0"/>
            </a:br>
            <a:r>
              <a:rPr dirty="0"/>
              <a:t>      ↓</a:t>
            </a:r>
            <a:br>
              <a:rPr dirty="0"/>
            </a:br>
            <a:r>
              <a:rPr dirty="0"/>
              <a:t>Risk Prediction Model</a:t>
            </a:r>
            <a:br>
              <a:rPr dirty="0"/>
            </a:br>
            <a:r>
              <a:rPr dirty="0"/>
              <a:t>      ↓</a:t>
            </a:r>
            <a:br>
              <a:rPr dirty="0"/>
            </a:br>
            <a:r>
              <a:rPr dirty="0"/>
              <a:t>Decision Engine</a:t>
            </a:r>
            <a:br>
              <a:rPr dirty="0"/>
            </a:br>
            <a:r>
              <a:rPr dirty="0"/>
              <a:t>      ↓</a:t>
            </a:r>
            <a:br>
              <a:rPr dirty="0"/>
            </a:br>
            <a:r>
              <a:rPr dirty="0"/>
              <a:t>Customer Action</a:t>
            </a:r>
            <a:br>
              <a:rPr dirty="0"/>
            </a:br>
            <a:r>
              <a:rPr dirty="0"/>
              <a:t>      ↓</a:t>
            </a:r>
            <a:br>
              <a:rPr dirty="0"/>
            </a:br>
            <a:r>
              <a:rPr dirty="0"/>
              <a:t>Learning &amp; Model Improvement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9943" y="664131"/>
            <a:ext cx="60189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7F"/>
                </a:solidFill>
              </a:defRPr>
            </a:pPr>
            <a:r>
              <a:rPr dirty="0"/>
              <a:t>Role of 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79943" y="1783080"/>
            <a:ext cx="6357403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Autonomous Activities</a:t>
            </a:r>
            <a:br>
              <a:rPr dirty="0"/>
            </a:br>
            <a:r>
              <a:rPr dirty="0"/>
              <a:t>• Risk scoring</a:t>
            </a:r>
            <a:br>
              <a:rPr dirty="0"/>
            </a:br>
            <a:r>
              <a:rPr dirty="0"/>
              <a:t>• SMS/Email reminders</a:t>
            </a:r>
            <a:br>
              <a:rPr dirty="0"/>
            </a:br>
            <a:r>
              <a:rPr dirty="0"/>
              <a:t>• Payment plan suggestions</a:t>
            </a:r>
            <a:br>
              <a:rPr dirty="0"/>
            </a:br>
            <a:r>
              <a:rPr dirty="0"/>
              <a:t>• Monitor repayments</a:t>
            </a:r>
            <a:br>
              <a:rPr dirty="0"/>
            </a:br>
            <a:br>
              <a:rPr dirty="0"/>
            </a:br>
            <a:r>
              <a:rPr dirty="0"/>
              <a:t>Human Oversight</a:t>
            </a:r>
            <a:br>
              <a:rPr dirty="0"/>
            </a:br>
            <a:r>
              <a:rPr dirty="0"/>
              <a:t>• Hardship approvals</a:t>
            </a:r>
            <a:br>
              <a:rPr dirty="0"/>
            </a:br>
            <a:r>
              <a:rPr dirty="0"/>
              <a:t>• Customer disputes</a:t>
            </a:r>
            <a:br>
              <a:rPr dirty="0"/>
            </a:br>
            <a:r>
              <a:rPr dirty="0"/>
              <a:t>• High-risk cases</a:t>
            </a:r>
            <a:br>
              <a:rPr dirty="0"/>
            </a:br>
            <a:r>
              <a:rPr dirty="0"/>
              <a:t>• Regulatory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5759" y="1386147"/>
            <a:ext cx="60371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7F"/>
                </a:solidFill>
              </a:defRPr>
            </a:pPr>
            <a:r>
              <a:rPr dirty="0"/>
              <a:t>Responsible AI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2587336"/>
            <a:ext cx="758120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• Perform fairness checks to reduce bias.</a:t>
            </a:r>
            <a:br>
              <a:rPr dirty="0"/>
            </a:br>
            <a:r>
              <a:rPr dirty="0"/>
              <a:t>• Use explainable AI models.</a:t>
            </a:r>
            <a:br>
              <a:rPr dirty="0"/>
            </a:br>
            <a:r>
              <a:rPr dirty="0"/>
              <a:t>• Human review for important decisions.</a:t>
            </a:r>
            <a:br>
              <a:rPr dirty="0"/>
            </a:br>
            <a:r>
              <a:rPr dirty="0"/>
              <a:t>• Comply with GDPR, ECOA, and FCA principles.</a:t>
            </a:r>
            <a:br>
              <a:rPr dirty="0"/>
            </a:br>
            <a:r>
              <a:rPr dirty="0"/>
              <a:t>• Maintain audit logs and monitor performance regularly.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37065" y="813760"/>
            <a:ext cx="63135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7F"/>
                </a:solidFill>
              </a:defRPr>
            </a:pPr>
            <a:r>
              <a:rPr dirty="0"/>
              <a:t>Expected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37065" y="1722813"/>
            <a:ext cx="8007235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Business KPIs</a:t>
            </a:r>
            <a:br>
              <a:rPr dirty="0"/>
            </a:br>
            <a:r>
              <a:rPr dirty="0"/>
              <a:t>• Reduce delinquency</a:t>
            </a:r>
            <a:br>
              <a:rPr dirty="0"/>
            </a:br>
            <a:r>
              <a:rPr dirty="0"/>
              <a:t>• Increase repayment rates</a:t>
            </a:r>
            <a:br>
              <a:rPr dirty="0"/>
            </a:br>
            <a:r>
              <a:rPr dirty="0"/>
              <a:t>• Lower collection costs</a:t>
            </a:r>
            <a:br>
              <a:rPr dirty="0"/>
            </a:br>
            <a:r>
              <a:rPr dirty="0"/>
              <a:t>• Improve operational efficiency</a:t>
            </a:r>
            <a:br>
              <a:rPr dirty="0"/>
            </a:br>
            <a:br>
              <a:rPr dirty="0"/>
            </a:br>
            <a:r>
              <a:rPr dirty="0"/>
              <a:t>Customer Outcomes</a:t>
            </a:r>
            <a:br>
              <a:rPr dirty="0"/>
            </a:br>
            <a:r>
              <a:rPr dirty="0"/>
              <a:t>• Better customer experience</a:t>
            </a:r>
            <a:br>
              <a:rPr dirty="0"/>
            </a:br>
            <a:r>
              <a:rPr dirty="0"/>
              <a:t>• Fair treatment</a:t>
            </a:r>
            <a:br>
              <a:rPr dirty="0"/>
            </a:br>
            <a:r>
              <a:rPr dirty="0"/>
              <a:t>• Personalized support</a:t>
            </a:r>
            <a:br>
              <a:rPr dirty="0"/>
            </a:br>
            <a:r>
              <a:rPr dirty="0"/>
              <a:t>• Increased trust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07029" y="2286000"/>
            <a:ext cx="71655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>
                <a:solidFill>
                  <a:srgbClr val="282828"/>
                </a:solidFill>
              </a:defRPr>
            </a:pPr>
            <a:r>
              <a:rPr dirty="0"/>
              <a:t>Thank You!</a:t>
            </a:r>
            <a:br>
              <a:rPr dirty="0"/>
            </a:br>
            <a:br>
              <a:rPr dirty="0"/>
            </a:br>
            <a:r>
              <a:rPr dirty="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6</TotalTime>
  <Words>275</Words>
  <Application>Microsoft Office PowerPoint</Application>
  <PresentationFormat>Custom</PresentationFormat>
  <Paragraphs>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Nancy Nancy</cp:lastModifiedBy>
  <cp:revision>2</cp:revision>
  <dcterms:created xsi:type="dcterms:W3CDTF">2013-01-27T09:14:16Z</dcterms:created>
  <dcterms:modified xsi:type="dcterms:W3CDTF">2026-07-09T06:35:28Z</dcterms:modified>
  <cp:category/>
</cp:coreProperties>
</file>